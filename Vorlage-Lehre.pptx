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68" r:id="rId4"/>
    <p:sldId id="264" r:id="rId5"/>
    <p:sldId id="265" r:id="rId6"/>
    <p:sldId id="266" r:id="rId7"/>
    <p:sldId id="257" r:id="rId8"/>
    <p:sldId id="258" r:id="rId9"/>
    <p:sldId id="260" r:id="rId10"/>
    <p:sldId id="259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10" autoAdjust="0"/>
    <p:restoredTop sz="94660" autoAdjust="0"/>
  </p:normalViewPr>
  <p:slideViewPr>
    <p:cSldViewPr snapToGrid="0" showGuides="1">
      <p:cViewPr varScale="1">
        <p:scale>
          <a:sx n="128" d="100"/>
          <a:sy n="128" d="100"/>
        </p:scale>
        <p:origin x="51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3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13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55A00-CF73-40D6-865F-92B59B033F40}" type="datetimeFigureOut">
              <a:rPr lang="de-DE" smtClean="0"/>
              <a:t>10.04.26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46B25-6125-4FF3-B594-BDCD96EDD4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66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46B25-6125-4FF3-B594-BDCD96EDD4E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658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416000" y="1269999"/>
            <a:ext cx="9360000" cy="2880000"/>
          </a:xfrm>
        </p:spPr>
        <p:txBody>
          <a:bodyPr anchor="b">
            <a:normAutofit/>
          </a:bodyPr>
          <a:lstStyle>
            <a:lvl1pPr algn="r">
              <a:defRPr sz="4800" b="1" i="0" baseline="0">
                <a:solidFill>
                  <a:schemeClr val="bg1"/>
                </a:solidFill>
                <a:latin typeface="Carlito" panose="020F0502020204030204" pitchFamily="34" charset="0"/>
                <a:cs typeface="Carlito" panose="020F0502020204030204" pitchFamily="34" charset="0"/>
              </a:defRPr>
            </a:lvl1pPr>
          </a:lstStyle>
          <a:p>
            <a:r>
              <a:rPr lang="de-DE" dirty="0"/>
              <a:t> V/Ü/SXX – Name der Veranstaltung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416000" y="4509406"/>
            <a:ext cx="9360000" cy="1800000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Name des Moduls</a:t>
            </a:r>
          </a:p>
          <a:p>
            <a:r>
              <a:rPr lang="de-DE" dirty="0"/>
              <a:t>Modulnummer </a:t>
            </a:r>
            <a:r>
              <a:rPr lang="de-DE" dirty="0" err="1"/>
              <a:t>Wi</a:t>
            </a:r>
            <a:r>
              <a:rPr lang="de-DE" dirty="0"/>
              <a:t>/</a:t>
            </a:r>
            <a:r>
              <a:rPr lang="de-DE" dirty="0" err="1"/>
              <a:t>SoSeXX</a:t>
            </a:r>
            <a:r>
              <a:rPr lang="de-DE" dirty="0"/>
              <a:t>/XY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0" y="133124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Flussdiagramm: Manuelle Eingabe 12"/>
          <p:cNvSpPr/>
          <p:nvPr userDrawn="1"/>
        </p:nvSpPr>
        <p:spPr>
          <a:xfrm>
            <a:off x="-3666" y="4158342"/>
            <a:ext cx="12220190" cy="269965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3"/>
              <a:gd name="connsiteY0" fmla="*/ 1548 h 10000"/>
              <a:gd name="connsiteX1" fmla="*/ 10003 w 10003"/>
              <a:gd name="connsiteY1" fmla="*/ 0 h 10000"/>
              <a:gd name="connsiteX2" fmla="*/ 10003 w 10003"/>
              <a:gd name="connsiteY2" fmla="*/ 10000 h 10000"/>
              <a:gd name="connsiteX3" fmla="*/ 3 w 10003"/>
              <a:gd name="connsiteY3" fmla="*/ 10000 h 10000"/>
              <a:gd name="connsiteX4" fmla="*/ 0 w 10003"/>
              <a:gd name="connsiteY4" fmla="*/ 1548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3" h="10000">
                <a:moveTo>
                  <a:pt x="0" y="1548"/>
                </a:move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2" y="7183"/>
                  <a:pt x="1" y="4365"/>
                  <a:pt x="0" y="15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rlito" panose="020F050202020403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C464A3-C2A4-B007-B21A-9A424D4BE6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268" y="-4310"/>
            <a:ext cx="3493686" cy="104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7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3"/>
          </p:nvPr>
        </p:nvSpPr>
        <p:spPr>
          <a:xfrm>
            <a:off x="696000" y="1650818"/>
            <a:ext cx="10800000" cy="4494807"/>
          </a:xfrm>
        </p:spPr>
        <p:txBody>
          <a:bodyPr/>
          <a:lstStyle>
            <a:lvl1pPr marL="360000" indent="-360000">
              <a:buFont typeface="Wingdings" panose="05000000000000000000" pitchFamily="2" charset="2"/>
              <a:buChar char="Ø"/>
              <a:defRPr/>
            </a:lvl1pPr>
            <a:lvl2pPr marL="720000" indent="-360000">
              <a:buFont typeface="Wingdings" panose="05000000000000000000" pitchFamily="2" charset="2"/>
              <a:buChar char="§"/>
              <a:defRPr/>
            </a:lvl2pPr>
            <a:lvl3pPr marL="1080000" indent="-360000">
              <a:buFont typeface="Wingdings" panose="05000000000000000000" pitchFamily="2" charset="2"/>
              <a:buChar char="§"/>
              <a:defRPr/>
            </a:lvl3pPr>
            <a:lvl4pPr marL="1440000" indent="-360000">
              <a:buFont typeface="Wingdings" panose="05000000000000000000" pitchFamily="2" charset="2"/>
              <a:buChar char="§"/>
              <a:defRPr/>
            </a:lvl4pPr>
            <a:lvl5pPr marL="1800000" indent="-3600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273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96000" y="1349738"/>
            <a:ext cx="10800000" cy="278220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 dirty="0"/>
              <a:t>Abschnittsüberschrift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96000" y="4335779"/>
            <a:ext cx="10800000" cy="1796121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Abschnittsunterschrift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969200" y="6311900"/>
            <a:ext cx="7375846" cy="360000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93120" y="6301275"/>
            <a:ext cx="1080000" cy="360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44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96000" y="1645625"/>
            <a:ext cx="5323800" cy="448627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645625"/>
            <a:ext cx="5324400" cy="4486275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965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96000" y="365125"/>
            <a:ext cx="10800000" cy="1080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6000" y="1620046"/>
            <a:ext cx="5301575" cy="72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96000" y="2514967"/>
            <a:ext cx="5301575" cy="36169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20046"/>
            <a:ext cx="5323800" cy="72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14967"/>
            <a:ext cx="5323800" cy="361693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696000" y="6321231"/>
            <a:ext cx="1080000" cy="360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567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95999" y="359776"/>
            <a:ext cx="4320000" cy="1440000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96000" y="1979776"/>
            <a:ext cx="4319998" cy="415212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95998" y="359776"/>
            <a:ext cx="6300002" cy="577212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738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41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6000" y="370272"/>
            <a:ext cx="10800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6000" y="1650818"/>
            <a:ext cx="10800000" cy="4494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969200" y="6311900"/>
            <a:ext cx="7375846" cy="360000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 algn="ctr">
              <a:defRPr sz="1200">
                <a:solidFill>
                  <a:schemeClr val="tx2"/>
                </a:solidFill>
                <a:latin typeface="Carlito" panose="020F0502020204030204" pitchFamily="34" charset="0"/>
                <a:cs typeface="Carlito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525046" y="6311900"/>
            <a:ext cx="720000" cy="360000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 algn="r">
              <a:defRPr sz="1200">
                <a:solidFill>
                  <a:schemeClr val="tx2"/>
                </a:solidFill>
                <a:latin typeface="Carlito" panose="020F0502020204030204" pitchFamily="34" charset="0"/>
                <a:cs typeface="Carlito" panose="020F0502020204030204" pitchFamily="34" charset="0"/>
              </a:defRPr>
            </a:lvl1pPr>
          </a:lstStyle>
          <a:p>
            <a:fld id="{0304DED3-3042-4AEC-8342-B459ACF3020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96000" y="6311900"/>
            <a:ext cx="1080000" cy="360000"/>
          </a:xfrm>
          <a:prstGeom prst="rect">
            <a:avLst/>
          </a:prstGeom>
        </p:spPr>
        <p:txBody>
          <a:bodyPr vert="horz" lIns="91440" tIns="45720" rIns="91440" bIns="0" rtlCol="0" anchor="b" anchorCtr="0"/>
          <a:lstStyle>
            <a:lvl1pPr algn="l">
              <a:defRPr sz="1200" b="0" i="0">
                <a:solidFill>
                  <a:schemeClr val="tx2"/>
                </a:solidFill>
                <a:latin typeface="Carlito" panose="020F0502020204030204" pitchFamily="34" charset="0"/>
                <a:cs typeface="Carlito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9" name="Rechteck 8"/>
          <p:cNvSpPr/>
          <p:nvPr userDrawn="1"/>
        </p:nvSpPr>
        <p:spPr>
          <a:xfrm>
            <a:off x="0" y="-1"/>
            <a:ext cx="12192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37AC985-EF98-4480-0950-DE6E8294E4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30156" y="6236188"/>
            <a:ext cx="1766954" cy="53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4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4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Carlito" panose="020F0502020204030204" pitchFamily="34" charset="0"/>
          <a:ea typeface="+mj-ea"/>
          <a:cs typeface="Carlito" panose="020F050202020403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Wingdings" panose="05000000000000000000" pitchFamily="2" charset="2"/>
        <a:buChar char="Ø"/>
        <a:defRPr sz="2800" b="0" i="0" kern="1200">
          <a:solidFill>
            <a:schemeClr val="tx1"/>
          </a:solidFill>
          <a:latin typeface="Carlito" panose="020F0502020204030204" pitchFamily="34" charset="0"/>
          <a:ea typeface="+mn-ea"/>
          <a:cs typeface="Carlito" panose="020F0502020204030204" pitchFamily="34" charset="0"/>
          <a:sym typeface="Wingdings" panose="05000000000000000000" pitchFamily="2" charset="2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400" b="0" i="0" kern="1200">
          <a:solidFill>
            <a:schemeClr val="tx1"/>
          </a:solidFill>
          <a:latin typeface="Carlito" panose="020F0502020204030204" pitchFamily="34" charset="0"/>
          <a:ea typeface="+mn-ea"/>
          <a:cs typeface="Carlito" panose="020F0502020204030204" pitchFamily="34" charset="0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000" b="0" i="0" kern="1200">
          <a:solidFill>
            <a:schemeClr val="tx1"/>
          </a:solidFill>
          <a:latin typeface="Carlito" panose="020F0502020204030204" pitchFamily="34" charset="0"/>
          <a:ea typeface="+mn-ea"/>
          <a:cs typeface="Carlito" panose="020F0502020204030204" pitchFamily="34" charset="0"/>
        </a:defRPr>
      </a:lvl3pPr>
      <a:lvl4pPr marL="144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Carlito" panose="020F0502020204030204" pitchFamily="34" charset="0"/>
          <a:ea typeface="+mn-ea"/>
          <a:cs typeface="Carlito" panose="020F0502020204030204" pitchFamily="34" charset="0"/>
        </a:defRPr>
      </a:lvl4pPr>
      <a:lvl5pPr marL="180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latin typeface="Carlito" panose="020F0502020204030204" pitchFamily="34" charset="0"/>
          <a:ea typeface="+mn-ea"/>
          <a:cs typeface="Carlito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s.google.com/specimen/Carlit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Powerpoint</a:t>
            </a:r>
            <a:r>
              <a:rPr lang="de-DE" dirty="0"/>
              <a:t>: How </a:t>
            </a:r>
            <a:r>
              <a:rPr lang="de-DE" dirty="0" err="1"/>
              <a:t>to</a:t>
            </a:r>
            <a:endParaRPr lang="de-DE" dirty="0"/>
          </a:p>
        </p:txBody>
      </p:sp>
      <p:sp>
        <p:nvSpPr>
          <p:cNvPr id="11" name="Untertitel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C2408F5-6559-40B2-92CF-9EAF5B491D3B}"/>
              </a:ext>
            </a:extLst>
          </p:cNvPr>
          <p:cNvSpPr txBox="1"/>
          <p:nvPr/>
        </p:nvSpPr>
        <p:spPr bwMode="auto">
          <a:xfrm>
            <a:off x="0" y="-282876"/>
            <a:ext cx="6911235" cy="2616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Hilfslinien: </a:t>
            </a:r>
            <a:r>
              <a:rPr lang="de-DE" sz="110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Hilfslinien</a:t>
            </a:r>
            <a:r>
              <a:rPr lang="de-DE" sz="110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 können über ‚Ansicht‘ &gt; ‚Anzeigen‘ &gt; ‚Führungslinien‘ eingeblendet werden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F65344E-6849-492A-9F24-5CB84C9B7252}"/>
              </a:ext>
            </a:extLst>
          </p:cNvPr>
          <p:cNvSpPr txBox="1"/>
          <p:nvPr/>
        </p:nvSpPr>
        <p:spPr bwMode="auto">
          <a:xfrm>
            <a:off x="-1917476" y="1353879"/>
            <a:ext cx="1865744" cy="43088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Layoutwechsel: </a:t>
            </a:r>
            <a:r>
              <a:rPr lang="de-DE" sz="110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‚Start‘ &gt; ‚Folien‘ &gt; Layout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DF686B0-D1AF-4C76-A9FF-D4C1D1118439}"/>
              </a:ext>
            </a:extLst>
          </p:cNvPr>
          <p:cNvSpPr txBox="1"/>
          <p:nvPr/>
        </p:nvSpPr>
        <p:spPr bwMode="auto">
          <a:xfrm>
            <a:off x="-1917476" y="4686131"/>
            <a:ext cx="1865744" cy="144655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Anpassung der Fußnote:</a:t>
            </a:r>
          </a:p>
          <a:p>
            <a:r>
              <a:rPr lang="de-DE" sz="1100" b="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‚Einfügen‘ &gt;</a:t>
            </a:r>
            <a:r>
              <a:rPr lang="de-DE" sz="1100" b="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  <a:sym typeface="Wingdings" panose="05000000000000000000" pitchFamily="2" charset="2"/>
              </a:rPr>
              <a:t> ‚K</a:t>
            </a:r>
            <a:r>
              <a:rPr lang="de-DE" sz="1100" b="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opf- und Fußzeile‘ &gt; Alle Platzhalter durch eigene Angaben ersetzen &gt; ‚Für alle übernehmen‘. Hier kann auch das Datum gesetzt werden.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4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6DFB1B-FFB3-1631-A2E1-27D04DAF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Schrift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44ECD8-2B3A-54D4-E4FA-584FC6E1005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Standardmäßig verwendet der Folienmaster die offene Schrift </a:t>
            </a:r>
            <a:r>
              <a:rPr lang="de-DE" dirty="0" err="1"/>
              <a:t>Carlito</a:t>
            </a:r>
            <a:r>
              <a:rPr lang="de-DE" dirty="0"/>
              <a:t> in den Schnitten Regular und </a:t>
            </a:r>
            <a:r>
              <a:rPr lang="de-DE" dirty="0" err="1"/>
              <a:t>Bold</a:t>
            </a:r>
            <a:r>
              <a:rPr lang="de-DE" dirty="0"/>
              <a:t>. Installationsdateien dafür findet ihr online: </a:t>
            </a:r>
            <a:r>
              <a:rPr lang="de-DE" dirty="0">
                <a:hlinkClick r:id="rId2"/>
              </a:rPr>
              <a:t>https://</a:t>
            </a:r>
            <a:r>
              <a:rPr lang="de-DE" dirty="0" err="1">
                <a:hlinkClick r:id="rId2"/>
              </a:rPr>
              <a:t>fonts.google.com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specimen</a:t>
            </a:r>
            <a:r>
              <a:rPr lang="de-DE" dirty="0">
                <a:hlinkClick r:id="rId2"/>
              </a:rPr>
              <a:t>/</a:t>
            </a:r>
            <a:r>
              <a:rPr lang="de-DE" dirty="0" err="1">
                <a:hlinkClick r:id="rId2"/>
              </a:rPr>
              <a:t>Carlito</a:t>
            </a:r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Hervorhebungen können </a:t>
            </a:r>
            <a:r>
              <a:rPr lang="de-DE" b="1" dirty="0">
                <a:solidFill>
                  <a:schemeClr val="tx2"/>
                </a:solidFill>
              </a:rPr>
              <a:t>fett und in einer dunklen Textfarbe gemacht</a:t>
            </a:r>
            <a:r>
              <a:rPr lang="de-DE" dirty="0"/>
              <a:t> werden. Bitte keine hellen Textfarben nutzen (mangelnder Kontrast) und berücksichtigen, dass diese Markierungen von Screen Readern nicht erfasst werden.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901BDD-CD35-2FEF-8CA9-82D25912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2898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D5384E-010F-5018-09D4-8A4AC3C9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CD8BA-4807-D8FF-8A5D-9409A669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Export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6E7056-BA4C-288F-9BC8-33217997D51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chemeClr val="tx2"/>
                </a:solidFill>
              </a:rPr>
              <a:t>Mac:</a:t>
            </a:r>
            <a:r>
              <a:rPr lang="de-DE" dirty="0"/>
              <a:t> Um sicher zu stellen, dass Schrift beim Export korrekt eingebettet wird, unter Mac beim PDF-Export die Option „Optimal zum Drucken“ wählen.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chemeClr val="tx2"/>
                </a:solidFill>
              </a:rPr>
              <a:t>Windows:</a:t>
            </a:r>
            <a:r>
              <a:rPr lang="de-DE" dirty="0"/>
              <a:t> Es ist nichts zu beachten. Optional kann beim Export die PDF-Option </a:t>
            </a:r>
            <a:r>
              <a:rPr lang="de-DE" i="1" dirty="0"/>
              <a:t>PDF/A-kompatibel </a:t>
            </a:r>
            <a:r>
              <a:rPr lang="de-DE" dirty="0"/>
              <a:t>aktiviert werden.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70C70CB-8F49-F439-E8B8-57103220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273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B8A9A2-2B4B-8B58-002C-D6EC803C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PDF/UA- &amp; WCAG-Konformität – </a:t>
            </a:r>
            <a:br>
              <a:rPr lang="de-DE"/>
            </a:br>
            <a:r>
              <a:rPr lang="de-DE"/>
              <a:t>Allgemeines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2049EC-5D06-4867-0B14-5EE1434B8B7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Auf den folgenden Folien sind grundlegende Regeln dargestellt, die die PDF/UA- &amp; WCAG-Konformität von PPTX/PDFs gewährleisten.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Alle Folien müssen einen Titel haben.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/>
              <a:t>Auch wenn visuell kein Titel gebraucht wird oder er verdeckt wird. Titel dann setzen und unsichtbar stellen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dirty="0"/>
              <a:t>Start </a:t>
            </a:r>
            <a:r>
              <a:rPr lang="de-DE" dirty="0">
                <a:sym typeface="Wingdings" panose="05000000000000000000" pitchFamily="2" charset="2"/>
              </a:rPr>
              <a:t> Anordnen  Auswahlbereich  Sichtbarkeit bei Titel deaktivieren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Vor dem Speichern muss ein Autor &amp; Titel gesetzt werden.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Windows: Datei  Informationen  Titel &amp; Autor setzen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Mac: Datei  Eigenschaften  Zusammenfassung</a:t>
            </a:r>
            <a:endParaRPr lang="de-DE" dirty="0"/>
          </a:p>
          <a:p>
            <a:pPr>
              <a:buFont typeface="Wingdings" panose="05000000000000000000" pitchFamily="2" charset="2"/>
              <a:buChar char="Ø"/>
            </a:pP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4F6B73-A5B6-4EF6-89C9-9C322B15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162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7FC7F7-A7E9-3485-F066-1833C688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62EC3-752B-3680-0C0B-8CA4ADA1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PDF/UA- &amp; WCAG-Konformität – </a:t>
            </a:r>
            <a:br>
              <a:rPr lang="de-DE"/>
            </a:br>
            <a:r>
              <a:rPr lang="de-DE"/>
              <a:t>Text-Inhalt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F432BE-2B3B-7F92-9021-821B76EF032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Text sollte möglichst </a:t>
            </a:r>
            <a:r>
              <a:rPr lang="de-DE" dirty="0" err="1">
                <a:sym typeface="Wingdings" panose="05000000000000000000" pitchFamily="2" charset="2"/>
              </a:rPr>
              <a:t>copy-able</a:t>
            </a:r>
            <a:r>
              <a:rPr lang="de-DE" dirty="0">
                <a:sym typeface="Wingdings" panose="05000000000000000000" pitchFamily="2" charset="2"/>
              </a:rPr>
              <a:t> sein z.B. in eingebetteten Tabellen.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Ggf. externe OCR-Tools für Grafiken nutzen.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Links müssen einen QuickInfo-Text haben.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Kontextmenü  Link bearbeiten  QuickInfo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A2995F-D440-F882-4498-7DE44DF6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64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89CA32-85F6-AC86-059C-1FF1D120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8F455C-0634-37DC-01BB-BB54A238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PDF/UA- &amp; WCAG-Konformität – </a:t>
            </a:r>
            <a:br>
              <a:rPr lang="de-DE"/>
            </a:br>
            <a:r>
              <a:rPr lang="de-DE"/>
              <a:t>Nicht-Text-Inhalt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1FF700-E472-476D-CCCA-1E0F93132F2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Flimmer-, Blink- oder Blitzeffekte durch Animationen stets vermeiden.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Abbildungen, Grafiken &amp; Tabellen müssen einen </a:t>
            </a:r>
            <a:r>
              <a:rPr lang="de-DE" dirty="0"/>
              <a:t>Alternativtext</a:t>
            </a:r>
            <a:r>
              <a:rPr lang="de-DE" dirty="0">
                <a:sym typeface="Wingdings" panose="05000000000000000000" pitchFamily="2" charset="2"/>
              </a:rPr>
              <a:t> haben.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Kontextmenü  Alternativtext anzeigen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Abbildungen und Grafiken ohne inhaltlich relevante Informationen können an dieser  Stelle als dekorativ markiert werden.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ym typeface="Wingdings" panose="05000000000000000000" pitchFamily="2" charset="2"/>
              </a:rPr>
              <a:t>Tabellen sollten möglichst eine Übersicht haben und gebändert sein.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Tabelle auswählen  Tabellenentwurf  Tabellenformatoptionen setzen</a:t>
            </a:r>
          </a:p>
          <a:p>
            <a:pPr>
              <a:buFont typeface="Wingdings" panose="05000000000000000000" pitchFamily="2" charset="2"/>
              <a:buChar char="Ø"/>
            </a:pP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8D6D6E-6EDF-38E8-8E24-DBB0E113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384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Carlito" panose="020F0502020204030204" pitchFamily="34" charset="0"/>
                <a:cs typeface="Carlito" panose="020F0502020204030204" pitchFamily="34" charset="0"/>
              </a:rPr>
              <a:t>01 - Thema</a:t>
            </a:r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Statistik und Methoden der Nutzenden-Forschung </a:t>
            </a:r>
          </a:p>
          <a:p>
            <a:r>
              <a:rPr lang="de-DE" b="1" dirty="0"/>
              <a:t>PY1802-KP08 SoSe25 </a:t>
            </a:r>
          </a:p>
          <a:p>
            <a:endParaRPr lang="de-DE" dirty="0"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354A3A1-0CA4-4285-BF84-0AB4DAAC2DF5}"/>
              </a:ext>
            </a:extLst>
          </p:cNvPr>
          <p:cNvSpPr txBox="1">
            <a:spLocks/>
          </p:cNvSpPr>
          <p:nvPr/>
        </p:nvSpPr>
        <p:spPr bwMode="auto">
          <a:xfrm>
            <a:off x="-1929244" y="12700"/>
            <a:ext cx="1865744" cy="2616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Titelfolie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F65344E-6849-492A-9F24-5CB84C9B7252}"/>
              </a:ext>
            </a:extLst>
          </p:cNvPr>
          <p:cNvSpPr txBox="1"/>
          <p:nvPr/>
        </p:nvSpPr>
        <p:spPr bwMode="auto">
          <a:xfrm>
            <a:off x="-1929244" y="3480978"/>
            <a:ext cx="1865744" cy="76944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Oberes Kästchen: </a:t>
            </a:r>
            <a:r>
              <a:rPr lang="de-DE" sz="110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Namen der spezifischen Lehrveranstaltung, z.B. V01 - Einführung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DF686B0-D1AF-4C76-A9FF-D4C1D1118439}"/>
              </a:ext>
            </a:extLst>
          </p:cNvPr>
          <p:cNvSpPr txBox="1"/>
          <p:nvPr/>
        </p:nvSpPr>
        <p:spPr bwMode="auto">
          <a:xfrm>
            <a:off x="-1941944" y="4300785"/>
            <a:ext cx="1865744" cy="76944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Unteres Kästchen:</a:t>
            </a:r>
          </a:p>
          <a:p>
            <a:r>
              <a:rPr lang="de-DE" sz="1100" b="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Name des Moduls, z.B.</a:t>
            </a:r>
          </a:p>
          <a:p>
            <a:r>
              <a:rPr lang="de-DE" sz="1100" b="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Interaktive Systeme</a:t>
            </a:r>
          </a:p>
          <a:p>
            <a:r>
              <a:rPr lang="de-DE" sz="1100" b="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S602-KP08 WiSe24/25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1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444EB72-9A33-44C0-AA93-D1917E02BB1F}"/>
              </a:ext>
            </a:extLst>
          </p:cNvPr>
          <p:cNvSpPr txBox="1"/>
          <p:nvPr/>
        </p:nvSpPr>
        <p:spPr bwMode="auto">
          <a:xfrm>
            <a:off x="-1846943" y="-12700"/>
            <a:ext cx="1770743" cy="43088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Inhaltsfolie mit 1 Spalte über die ganze Breite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3CE69E2-9EE1-9C5F-9343-41D4470C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6153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444EB72-9A33-44C0-AA93-D1917E02BB1F}"/>
              </a:ext>
            </a:extLst>
          </p:cNvPr>
          <p:cNvSpPr txBox="1"/>
          <p:nvPr/>
        </p:nvSpPr>
        <p:spPr bwMode="auto">
          <a:xfrm>
            <a:off x="-1929244" y="-10175"/>
            <a:ext cx="1865744" cy="60016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Folie mit Abschnittsüberschrift zum Trennen von Abschnitten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65344E-6849-492A-9F24-5CB84C9B7252}"/>
              </a:ext>
            </a:extLst>
          </p:cNvPr>
          <p:cNvSpPr txBox="1"/>
          <p:nvPr/>
        </p:nvSpPr>
        <p:spPr bwMode="auto">
          <a:xfrm>
            <a:off x="-1929244" y="3265078"/>
            <a:ext cx="1865744" cy="76944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Oberes Kästchen: </a:t>
            </a:r>
            <a:r>
              <a:rPr lang="de-DE" sz="110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Name des Abschnitts, gegebenenfalls mit Nummer, z.B. 1 - Einleitung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DF686B0-D1AF-4C76-A9FF-D4C1D1118439}"/>
              </a:ext>
            </a:extLst>
          </p:cNvPr>
          <p:cNvSpPr txBox="1"/>
          <p:nvPr/>
        </p:nvSpPr>
        <p:spPr bwMode="auto">
          <a:xfrm>
            <a:off x="-1929244" y="4335779"/>
            <a:ext cx="1865744" cy="60016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Unteres Kästchen:</a:t>
            </a:r>
          </a:p>
          <a:p>
            <a:r>
              <a:rPr lang="de-DE" sz="1100" b="0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Ergänzungen zur Abschnittsüberschrift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8C98CB-530E-909B-3F97-F4BA8F28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62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A553492-5DED-47BF-8C08-D0DB8D98D376}"/>
              </a:ext>
            </a:extLst>
          </p:cNvPr>
          <p:cNvSpPr txBox="1"/>
          <p:nvPr/>
        </p:nvSpPr>
        <p:spPr bwMode="auto">
          <a:xfrm>
            <a:off x="-1894113" y="-12700"/>
            <a:ext cx="1843314" cy="2616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Inhaltsfolie mit 2 Spalten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1DA32C-DF7E-E170-638F-3A27BC84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5306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A553492-5DED-47BF-8C08-D0DB8D98D376}"/>
              </a:ext>
            </a:extLst>
          </p:cNvPr>
          <p:cNvSpPr txBox="1"/>
          <p:nvPr/>
        </p:nvSpPr>
        <p:spPr bwMode="auto">
          <a:xfrm>
            <a:off x="-2022929" y="-25401"/>
            <a:ext cx="1959429" cy="43088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Inhaltsfolie mit 2 Spalten und Unterüberschriften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79C3B9E-AEAD-0D17-B31A-68D4E27E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881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454595-5E64-4203-9680-34770163892E}"/>
              </a:ext>
            </a:extLst>
          </p:cNvPr>
          <p:cNvSpPr txBox="1"/>
          <p:nvPr/>
        </p:nvSpPr>
        <p:spPr bwMode="auto">
          <a:xfrm>
            <a:off x="-1961244" y="0"/>
            <a:ext cx="1872343" cy="60016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Folie mit 2 Spalten (Text oder Bild mit 40% und 60% Aufteilung)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0F4A2C-D15D-B285-A9E3-A48B1284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955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ADC3FB1-2443-4D1D-9810-194696CF9A85}"/>
              </a:ext>
            </a:extLst>
          </p:cNvPr>
          <p:cNvSpPr txBox="1"/>
          <p:nvPr/>
        </p:nvSpPr>
        <p:spPr bwMode="auto">
          <a:xfrm>
            <a:off x="-1616529" y="0"/>
            <a:ext cx="1553029" cy="26161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sz="1100" b="1" dirty="0">
                <a:solidFill>
                  <a:schemeClr val="accent6">
                    <a:lumMod val="75000"/>
                  </a:schemeClr>
                </a:solidFill>
                <a:latin typeface="Carlito" panose="020F0502020204030204" pitchFamily="34" charset="0"/>
              </a:rPr>
              <a:t>Leere Folie</a:t>
            </a:r>
            <a:endParaRPr lang="de-DE" sz="1100" dirty="0">
              <a:solidFill>
                <a:schemeClr val="accent6">
                  <a:lumMod val="75000"/>
                </a:schemeClr>
              </a:solidFill>
              <a:latin typeface="Carlito" panose="020F0502020204030204" pitchFamily="34" charset="0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4098CCB-CE1C-A9B3-26F0-7A466E4F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4DED3-3042-4AEC-8342-B459ACF3020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97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zL CI Colors">
      <a:dk1>
        <a:srgbClr val="000000"/>
      </a:dk1>
      <a:lt1>
        <a:sysClr val="window" lastClr="FFFFFF"/>
      </a:lt1>
      <a:dk2>
        <a:srgbClr val="145A70"/>
      </a:dk2>
      <a:lt2>
        <a:srgbClr val="EDE2E4"/>
      </a:lt2>
      <a:accent1>
        <a:srgbClr val="004B5A"/>
      </a:accent1>
      <a:accent2>
        <a:srgbClr val="006AA3"/>
      </a:accent2>
      <a:accent3>
        <a:srgbClr val="95BC0E"/>
      </a:accent3>
      <a:accent4>
        <a:srgbClr val="FABB00"/>
      </a:accent4>
      <a:accent5>
        <a:srgbClr val="EC7404"/>
      </a:accent5>
      <a:accent6>
        <a:srgbClr val="E42032"/>
      </a:accent6>
      <a:hlink>
        <a:srgbClr val="14738C"/>
      </a:hlink>
      <a:folHlink>
        <a:srgbClr val="586979"/>
      </a:folHlink>
    </a:clrScheme>
    <a:fontScheme name="UzL Hous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latin typeface="Carlito" panose="020F0502020204030204" pitchFamily="34" charset="0"/>
            <a:cs typeface="Carlito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Macintosh PowerPoint</Application>
  <PresentationFormat>Breitbild</PresentationFormat>
  <Paragraphs>61</Paragraphs>
  <Slides>13</Slides>
  <Notes>1</Notes>
  <HiddenSlides>6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Carlito</vt:lpstr>
      <vt:lpstr>Wingdings</vt:lpstr>
      <vt:lpstr>Office</vt:lpstr>
      <vt:lpstr>Powerpoint: How to</vt:lpstr>
      <vt:lpstr>Schrift</vt:lpstr>
      <vt:lpstr>Export</vt:lpstr>
      <vt:lpstr>PDF/UA- &amp; WCAG-Konformität –  Allgemeines</vt:lpstr>
      <vt:lpstr>PDF/UA- &amp; WCAG-Konformität –  Text-Inhalt</vt:lpstr>
      <vt:lpstr>PDF/UA- &amp; WCAG-Konformität –  Nicht-Text-Inhalt</vt:lpstr>
      <vt:lpstr>01 - Thema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FG HCIUSE</dc:creator>
  <cp:lastModifiedBy>André Calero Valdez</cp:lastModifiedBy>
  <cp:revision>62</cp:revision>
  <dcterms:created xsi:type="dcterms:W3CDTF">2024-11-15T13:42:32Z</dcterms:created>
  <dcterms:modified xsi:type="dcterms:W3CDTF">2026-04-10T15:59:09Z</dcterms:modified>
</cp:coreProperties>
</file>